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Anonymous Pro Bold" charset="1" panose="02060809030202000504"/>
      <p:regular r:id="rId7"/>
    </p:embeddedFont>
    <p:embeddedFont>
      <p:font typeface="Cousine Bold" charset="1" panose="02070709020205020404"/>
      <p:regular r:id="rId8"/>
    </p:embeddedFont>
    <p:embeddedFont>
      <p:font typeface="Cousine" charset="1" panose="02070409020205020404"/>
      <p:regular r:id="rId9"/>
    </p:embeddedFont>
    <p:embeddedFont>
      <p:font typeface="Canva Sans Bold" charset="1" panose="020B0803030501040103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440465"/>
            <a:ext cx="17470132" cy="957120"/>
            <a:chOff x="0" y="0"/>
            <a:chExt cx="4601187" cy="252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52081"/>
            </a:xfrm>
            <a:custGeom>
              <a:avLst/>
              <a:gdLst/>
              <a:ahLst/>
              <a:cxnLst/>
              <a:rect r="r" b="b" t="t" l="l"/>
              <a:pathLst>
                <a:path h="252081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52081"/>
                  </a:lnTo>
                  <a:lnTo>
                    <a:pt x="0" y="252081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9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1397585"/>
            <a:ext cx="17470132" cy="8448951"/>
            <a:chOff x="0" y="0"/>
            <a:chExt cx="4601187" cy="22252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2225238"/>
            </a:xfrm>
            <a:custGeom>
              <a:avLst/>
              <a:gdLst/>
              <a:ahLst/>
              <a:cxnLst/>
              <a:rect r="r" b="b" t="t" l="l"/>
              <a:pathLst>
                <a:path h="222523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225238"/>
                  </a:lnTo>
                  <a:lnTo>
                    <a:pt x="0" y="2225238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601187" cy="2272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2909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67139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07211" y="646211"/>
            <a:ext cx="545628" cy="545628"/>
          </a:xfrm>
          <a:custGeom>
            <a:avLst/>
            <a:gdLst/>
            <a:ahLst/>
            <a:cxnLst/>
            <a:rect r="r" b="b" t="t" l="l"/>
            <a:pathLst>
              <a:path h="545628" w="545628">
                <a:moveTo>
                  <a:pt x="0" y="0"/>
                </a:moveTo>
                <a:lnTo>
                  <a:pt x="545628" y="0"/>
                </a:lnTo>
                <a:lnTo>
                  <a:pt x="545628" y="545628"/>
                </a:lnTo>
                <a:lnTo>
                  <a:pt x="0" y="545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268621" y="9193555"/>
            <a:ext cx="2892536" cy="652980"/>
            <a:chOff x="0" y="0"/>
            <a:chExt cx="761820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61820" cy="171978"/>
            </a:xfrm>
            <a:custGeom>
              <a:avLst/>
              <a:gdLst/>
              <a:ahLst/>
              <a:cxnLst/>
              <a:rect r="r" b="b" t="t" l="l"/>
              <a:pathLst>
                <a:path h="171978" w="761820">
                  <a:moveTo>
                    <a:pt x="0" y="0"/>
                  </a:moveTo>
                  <a:lnTo>
                    <a:pt x="761820" y="0"/>
                  </a:lnTo>
                  <a:lnTo>
                    <a:pt x="761820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761820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0944939" y="1665038"/>
            <a:ext cx="2787361" cy="669013"/>
          </a:xfrm>
          <a:custGeom>
            <a:avLst/>
            <a:gdLst/>
            <a:ahLst/>
            <a:cxnLst/>
            <a:rect r="r" b="b" t="t" l="l"/>
            <a:pathLst>
              <a:path h="669013" w="2787361">
                <a:moveTo>
                  <a:pt x="0" y="0"/>
                </a:moveTo>
                <a:lnTo>
                  <a:pt x="2787362" y="0"/>
                </a:lnTo>
                <a:lnTo>
                  <a:pt x="2787362" y="669013"/>
                </a:lnTo>
                <a:lnTo>
                  <a:pt x="0" y="6690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-121954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0944939" y="2295143"/>
            <a:ext cx="6437915" cy="6687067"/>
            <a:chOff x="0" y="0"/>
            <a:chExt cx="1695583" cy="17612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95583" cy="1761203"/>
            </a:xfrm>
            <a:custGeom>
              <a:avLst/>
              <a:gdLst/>
              <a:ahLst/>
              <a:cxnLst/>
              <a:rect r="r" b="b" t="t" l="l"/>
              <a:pathLst>
                <a:path h="1761203" w="1695583">
                  <a:moveTo>
                    <a:pt x="0" y="0"/>
                  </a:moveTo>
                  <a:lnTo>
                    <a:pt x="1695583" y="0"/>
                  </a:lnTo>
                  <a:lnTo>
                    <a:pt x="1695583" y="1761203"/>
                  </a:lnTo>
                  <a:lnTo>
                    <a:pt x="0" y="1761203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695583" cy="1808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1667780" y="5954439"/>
            <a:ext cx="1618809" cy="2749943"/>
          </a:xfrm>
          <a:custGeom>
            <a:avLst/>
            <a:gdLst/>
            <a:ahLst/>
            <a:cxnLst/>
            <a:rect r="r" b="b" t="t" l="l"/>
            <a:pathLst>
              <a:path h="2749943" w="1618809">
                <a:moveTo>
                  <a:pt x="0" y="0"/>
                </a:moveTo>
                <a:lnTo>
                  <a:pt x="1618809" y="0"/>
                </a:lnTo>
                <a:lnTo>
                  <a:pt x="1618809" y="2749944"/>
                </a:lnTo>
                <a:lnTo>
                  <a:pt x="0" y="274994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3753" t="-5540" r="-13737" b="-608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467564" y="5980437"/>
            <a:ext cx="1580406" cy="2723946"/>
          </a:xfrm>
          <a:custGeom>
            <a:avLst/>
            <a:gdLst/>
            <a:ahLst/>
            <a:cxnLst/>
            <a:rect r="r" b="b" t="t" l="l"/>
            <a:pathLst>
              <a:path h="2723946" w="1580406">
                <a:moveTo>
                  <a:pt x="0" y="0"/>
                </a:moveTo>
                <a:lnTo>
                  <a:pt x="1580406" y="0"/>
                </a:lnTo>
                <a:lnTo>
                  <a:pt x="1580406" y="2723946"/>
                </a:lnTo>
                <a:lnTo>
                  <a:pt x="0" y="272394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32841" t="-25481" r="-40629" b="-27012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5228945" y="5980951"/>
            <a:ext cx="1554782" cy="2723946"/>
          </a:xfrm>
          <a:custGeom>
            <a:avLst/>
            <a:gdLst/>
            <a:ahLst/>
            <a:cxnLst/>
            <a:rect r="r" b="b" t="t" l="l"/>
            <a:pathLst>
              <a:path h="2723946" w="1554782">
                <a:moveTo>
                  <a:pt x="0" y="0"/>
                </a:moveTo>
                <a:lnTo>
                  <a:pt x="1554783" y="0"/>
                </a:lnTo>
                <a:lnTo>
                  <a:pt x="1554783" y="2723946"/>
                </a:lnTo>
                <a:lnTo>
                  <a:pt x="0" y="272394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189712" y="2486355"/>
            <a:ext cx="3048217" cy="731623"/>
          </a:xfrm>
          <a:custGeom>
            <a:avLst/>
            <a:gdLst/>
            <a:ahLst/>
            <a:cxnLst/>
            <a:rect r="r" b="b" t="t" l="l"/>
            <a:pathLst>
              <a:path h="731623" w="3048217">
                <a:moveTo>
                  <a:pt x="0" y="0"/>
                </a:moveTo>
                <a:lnTo>
                  <a:pt x="3048217" y="0"/>
                </a:lnTo>
                <a:lnTo>
                  <a:pt x="3048217" y="731622"/>
                </a:lnTo>
                <a:lnTo>
                  <a:pt x="0" y="7316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-121954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240102" y="3155367"/>
            <a:ext cx="2997827" cy="5742508"/>
            <a:chOff x="0" y="0"/>
            <a:chExt cx="789551" cy="151243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89551" cy="1512430"/>
            </a:xfrm>
            <a:custGeom>
              <a:avLst/>
              <a:gdLst/>
              <a:ahLst/>
              <a:cxnLst/>
              <a:rect r="r" b="b" t="t" l="l"/>
              <a:pathLst>
                <a:path h="1512430" w="789551">
                  <a:moveTo>
                    <a:pt x="0" y="0"/>
                  </a:moveTo>
                  <a:lnTo>
                    <a:pt x="789551" y="0"/>
                  </a:lnTo>
                  <a:lnTo>
                    <a:pt x="789551" y="1512430"/>
                  </a:lnTo>
                  <a:lnTo>
                    <a:pt x="0" y="151243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789551" cy="1560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543709" y="2136986"/>
            <a:ext cx="1048895" cy="1018382"/>
          </a:xfrm>
          <a:custGeom>
            <a:avLst/>
            <a:gdLst/>
            <a:ahLst/>
            <a:cxnLst/>
            <a:rect r="r" b="b" t="t" l="l"/>
            <a:pathLst>
              <a:path h="1018382" w="1048895">
                <a:moveTo>
                  <a:pt x="0" y="0"/>
                </a:moveTo>
                <a:lnTo>
                  <a:pt x="1048895" y="0"/>
                </a:lnTo>
                <a:lnTo>
                  <a:pt x="1048895" y="1018381"/>
                </a:lnTo>
                <a:lnTo>
                  <a:pt x="0" y="101838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592604" y="2682020"/>
            <a:ext cx="2292824" cy="37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b="true" sz="3074" spc="-104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SUMMARY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92748" y="3292731"/>
            <a:ext cx="2960378" cy="535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0268" indent="-195134" lvl="1">
              <a:lnSpc>
                <a:spcPts val="2259"/>
              </a:lnSpc>
              <a:buFont typeface="Arial"/>
              <a:buChar char="•"/>
            </a:pPr>
            <a:r>
              <a:rPr lang="en-US" b="true" sz="1807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A React Native project </a:t>
            </a:r>
          </a:p>
          <a:p>
            <a:pPr algn="l">
              <a:lnSpc>
                <a:spcPts val="2134"/>
              </a:lnSpc>
            </a:pPr>
          </a:p>
          <a:p>
            <a:pPr algn="l" marL="368679" indent="-184339" lvl="1">
              <a:lnSpc>
                <a:spcPts val="2134"/>
              </a:lnSpc>
              <a:buFont typeface="Arial"/>
              <a:buChar char="•"/>
            </a:pPr>
            <a:r>
              <a:rPr lang="en-US" b="true" sz="1707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S</a:t>
            </a:r>
            <a:r>
              <a:rPr lang="en-US" b="true" sz="1707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upport real-time geolocation tracking</a:t>
            </a:r>
          </a:p>
          <a:p>
            <a:pPr algn="l">
              <a:lnSpc>
                <a:spcPts val="2259"/>
              </a:lnSpc>
            </a:pPr>
          </a:p>
          <a:p>
            <a:pPr algn="l" marL="390268" indent="-195134" lvl="1">
              <a:lnSpc>
                <a:spcPts val="2259"/>
              </a:lnSpc>
              <a:buFont typeface="Arial"/>
              <a:buChar char="•"/>
            </a:pPr>
            <a:r>
              <a:rPr lang="en-US" b="true" sz="1807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M</a:t>
            </a:r>
            <a:r>
              <a:rPr lang="en-US" b="true" sz="1807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ap rendering</a:t>
            </a:r>
          </a:p>
          <a:p>
            <a:pPr algn="l">
              <a:lnSpc>
                <a:spcPts val="2259"/>
              </a:lnSpc>
            </a:pPr>
          </a:p>
          <a:p>
            <a:pPr algn="l" marL="390268" indent="-195134" lvl="1">
              <a:lnSpc>
                <a:spcPts val="2259"/>
              </a:lnSpc>
              <a:buFont typeface="Arial"/>
              <a:buChar char="•"/>
            </a:pPr>
            <a:r>
              <a:rPr lang="en-US" b="true" sz="1807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Favorites, Recently reviewed, School map, Multilingual support  </a:t>
            </a:r>
          </a:p>
          <a:p>
            <a:pPr algn="l">
              <a:lnSpc>
                <a:spcPts val="2259"/>
              </a:lnSpc>
            </a:pPr>
          </a:p>
          <a:p>
            <a:pPr algn="l" marL="390268" indent="-195134" lvl="1">
              <a:lnSpc>
                <a:spcPts val="2259"/>
              </a:lnSpc>
              <a:buFont typeface="Arial"/>
              <a:buChar char="•"/>
            </a:pPr>
            <a:r>
              <a:rPr lang="en-US" b="true" sz="1807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F</a:t>
            </a:r>
            <a:r>
              <a:rPr lang="en-US" b="true" sz="1807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ilter (School level, Finance type, etc.)</a:t>
            </a:r>
          </a:p>
          <a:p>
            <a:pPr algn="l">
              <a:lnSpc>
                <a:spcPts val="2259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744174" y="659398"/>
            <a:ext cx="12952815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COMP 3130SEF Mobile Application Programming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192208" y="1860704"/>
            <a:ext cx="2292824" cy="37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b="true" sz="3074" spc="-104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RESULTS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44460" y="9381205"/>
            <a:ext cx="3591716" cy="372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2"/>
              </a:lnSpc>
            </a:pPr>
            <a:r>
              <a:rPr lang="en-US" b="true" sz="3074" spc="-104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FURTHER INFO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4536176" y="3199378"/>
            <a:ext cx="9994422" cy="5698498"/>
            <a:chOff x="0" y="0"/>
            <a:chExt cx="13325896" cy="759799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716482" cy="892017"/>
            </a:xfrm>
            <a:custGeom>
              <a:avLst/>
              <a:gdLst/>
              <a:ahLst/>
              <a:cxnLst/>
              <a:rect r="r" b="b" t="t" l="l"/>
              <a:pathLst>
                <a:path h="892017" w="3716482">
                  <a:moveTo>
                    <a:pt x="0" y="0"/>
                  </a:moveTo>
                  <a:lnTo>
                    <a:pt x="3716482" y="0"/>
                  </a:lnTo>
                  <a:lnTo>
                    <a:pt x="3716482" y="892017"/>
                  </a:lnTo>
                  <a:lnTo>
                    <a:pt x="0" y="892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-121954"/>
              </a:stretch>
            </a:blipFill>
          </p:spPr>
        </p:sp>
        <p:grpSp>
          <p:nvGrpSpPr>
            <p:cNvPr name="Group 44" id="44"/>
            <p:cNvGrpSpPr/>
            <p:nvPr/>
          </p:nvGrpSpPr>
          <p:grpSpPr>
            <a:xfrm rot="0">
              <a:off x="0" y="892017"/>
              <a:ext cx="7580302" cy="6705980"/>
              <a:chOff x="0" y="0"/>
              <a:chExt cx="1497344" cy="1324638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497344" cy="1324638"/>
              </a:xfrm>
              <a:custGeom>
                <a:avLst/>
                <a:gdLst/>
                <a:ahLst/>
                <a:cxnLst/>
                <a:rect r="r" b="b" t="t" l="l"/>
                <a:pathLst>
                  <a:path h="1324638" w="1497344">
                    <a:moveTo>
                      <a:pt x="0" y="0"/>
                    </a:moveTo>
                    <a:lnTo>
                      <a:pt x="1497344" y="0"/>
                    </a:lnTo>
                    <a:lnTo>
                      <a:pt x="1497344" y="1324638"/>
                    </a:lnTo>
                    <a:lnTo>
                      <a:pt x="0" y="1324638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47625"/>
                <a:ext cx="1497344" cy="13722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47" id="47"/>
            <p:cNvSpPr/>
            <p:nvPr/>
          </p:nvSpPr>
          <p:spPr>
            <a:xfrm flipH="false" flipV="false" rot="0">
              <a:off x="426245" y="5862645"/>
              <a:ext cx="6907754" cy="1583681"/>
            </a:xfrm>
            <a:custGeom>
              <a:avLst/>
              <a:gdLst/>
              <a:ahLst/>
              <a:cxnLst/>
              <a:rect r="r" b="b" t="t" l="l"/>
              <a:pathLst>
                <a:path h="1583681" w="6907754">
                  <a:moveTo>
                    <a:pt x="0" y="0"/>
                  </a:moveTo>
                  <a:lnTo>
                    <a:pt x="6907754" y="0"/>
                  </a:lnTo>
                  <a:lnTo>
                    <a:pt x="6907754" y="1583681"/>
                  </a:lnTo>
                  <a:lnTo>
                    <a:pt x="0" y="15836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81198" r="0" b="-445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 rot="0">
              <a:off x="329692" y="229138"/>
              <a:ext cx="3057098" cy="5289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12"/>
                </a:lnSpc>
              </a:pPr>
              <a:r>
                <a:rPr lang="en-US" b="true" sz="3074" spc="-104">
                  <a:solidFill>
                    <a:srgbClr val="000000"/>
                  </a:solidFill>
                  <a:latin typeface="Anonymous Pro Bold"/>
                  <a:ea typeface="Anonymous Pro Bold"/>
                  <a:cs typeface="Anonymous Pro Bold"/>
                  <a:sym typeface="Anonymous Pro Bold"/>
                </a:rPr>
                <a:t>METHODS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426245" y="1187292"/>
              <a:ext cx="4430226" cy="1401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0"/>
                </a:lnSpc>
              </a:pPr>
              <a:r>
                <a:rPr lang="en-US" sz="1720" b="true">
                  <a:solidFill>
                    <a:srgbClr val="000000"/>
                  </a:solidFill>
                  <a:latin typeface="Cousine Bold"/>
                  <a:ea typeface="Cousine Bold"/>
                  <a:cs typeface="Cousine Bold"/>
                  <a:sym typeface="Cousine Bold"/>
                </a:rPr>
                <a:t>Framework</a:t>
              </a:r>
            </a:p>
            <a:p>
              <a:pPr algn="l" marL="371443" indent="-185721" lvl="1">
                <a:lnSpc>
                  <a:spcPts val="2150"/>
                </a:lnSpc>
                <a:buFont typeface="Arial"/>
                <a:buChar char="•"/>
              </a:pPr>
              <a:r>
                <a:rPr lang="en-US" sz="1720">
                  <a:solidFill>
                    <a:srgbClr val="000000"/>
                  </a:solidFill>
                  <a:latin typeface="Cousine"/>
                  <a:ea typeface="Cousine"/>
                  <a:cs typeface="Cousine"/>
                  <a:sym typeface="Cousine"/>
                </a:rPr>
                <a:t>React 19.2.3</a:t>
              </a:r>
            </a:p>
            <a:p>
              <a:pPr algn="l" marL="371443" indent="-185721" lvl="1">
                <a:lnSpc>
                  <a:spcPts val="2150"/>
                </a:lnSpc>
                <a:buFont typeface="Arial"/>
                <a:buChar char="•"/>
              </a:pPr>
              <a:r>
                <a:rPr lang="en-US" sz="1720">
                  <a:solidFill>
                    <a:srgbClr val="000000"/>
                  </a:solidFill>
                  <a:latin typeface="Cousine"/>
                  <a:ea typeface="Cousine"/>
                  <a:cs typeface="Cousine"/>
                  <a:sym typeface="Cousine"/>
                </a:rPr>
                <a:t>React Native 0.84.1</a:t>
              </a:r>
            </a:p>
            <a:p>
              <a:pPr algn="l" marL="371443" indent="-185721" lvl="1">
                <a:lnSpc>
                  <a:spcPts val="2150"/>
                </a:lnSpc>
                <a:buFont typeface="Arial"/>
                <a:buChar char="•"/>
              </a:pPr>
              <a:r>
                <a:rPr lang="en-US" sz="1720">
                  <a:solidFill>
                    <a:srgbClr val="000000"/>
                  </a:solidFill>
                  <a:latin typeface="Cousine"/>
                  <a:ea typeface="Cousine"/>
                  <a:cs typeface="Cousine"/>
                  <a:sym typeface="Cousine"/>
                </a:rPr>
                <a:t>Node.js ≥ 22.11.0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515730" y="3086344"/>
              <a:ext cx="12810166" cy="2574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1700" b="true">
                  <a:solidFill>
                    <a:srgbClr val="000000"/>
                  </a:solidFill>
                  <a:latin typeface="Cousine Bold"/>
                  <a:ea typeface="Cousine Bold"/>
                  <a:cs typeface="Cousine Bold"/>
                  <a:sym typeface="Cousine Bold"/>
                </a:rPr>
                <a:t>Development Tools</a:t>
              </a:r>
            </a:p>
            <a:p>
              <a:pPr algn="l" marL="324064" indent="-162032" lvl="1">
                <a:lnSpc>
                  <a:spcPts val="1876"/>
                </a:lnSpc>
                <a:buFont typeface="Arial"/>
                <a:buChar char="•"/>
              </a:pPr>
              <a:r>
                <a:rPr lang="en-US" sz="1500">
                  <a:solidFill>
                    <a:srgbClr val="000000"/>
                  </a:solidFill>
                  <a:latin typeface="Cousine"/>
                  <a:ea typeface="Cousine"/>
                  <a:cs typeface="Cousine"/>
                  <a:sym typeface="Cousine"/>
                </a:rPr>
                <a:t>Map Rendering &amp; Routing: Google Maps + </a:t>
              </a:r>
            </a:p>
            <a:p>
              <a:pPr algn="l">
                <a:lnSpc>
                  <a:spcPts val="1876"/>
                </a:lnSpc>
              </a:pPr>
              <a:r>
                <a:rPr lang="en-US" sz="1500">
                  <a:solidFill>
                    <a:srgbClr val="000000"/>
                  </a:solidFill>
                  <a:latin typeface="Cousine"/>
                  <a:ea typeface="Cousine"/>
                  <a:cs typeface="Cousine"/>
                  <a:sym typeface="Cousine"/>
                </a:rPr>
                <a:t>   </a:t>
              </a:r>
              <a:r>
                <a:rPr lang="en-US" sz="1500">
                  <a:solidFill>
                    <a:srgbClr val="000000"/>
                  </a:solidFill>
                  <a:latin typeface="Cousine"/>
                  <a:ea typeface="Cousine"/>
                  <a:cs typeface="Cousine"/>
                  <a:sym typeface="Cousine"/>
                </a:rPr>
                <a:t>react-native-maps </a:t>
              </a:r>
            </a:p>
            <a:p>
              <a:pPr algn="l" marL="324064" indent="-162032" lvl="1">
                <a:lnSpc>
                  <a:spcPts val="1876"/>
                </a:lnSpc>
                <a:buFont typeface="Arial"/>
                <a:buChar char="•"/>
              </a:pPr>
              <a:r>
                <a:rPr lang="en-US" sz="1500">
                  <a:solidFill>
                    <a:srgbClr val="000000"/>
                  </a:solidFill>
                  <a:latin typeface="Cousine"/>
                  <a:ea typeface="Cousine"/>
                  <a:cs typeface="Cousine"/>
                  <a:sym typeface="Cousine"/>
                </a:rPr>
                <a:t>API Fetching: Axios </a:t>
              </a:r>
            </a:p>
            <a:p>
              <a:pPr algn="l" marL="324064" indent="-162032" lvl="1">
                <a:lnSpc>
                  <a:spcPts val="1876"/>
                </a:lnSpc>
                <a:buFont typeface="Arial"/>
                <a:buChar char="•"/>
              </a:pPr>
              <a:r>
                <a:rPr lang="en-US" sz="1500">
                  <a:solidFill>
                    <a:srgbClr val="000000"/>
                  </a:solidFill>
                  <a:latin typeface="Cousine"/>
                  <a:ea typeface="Cousine"/>
                  <a:cs typeface="Cousine"/>
                  <a:sym typeface="Cousine"/>
                </a:rPr>
                <a:t>Local Storage: AsyncStorage </a:t>
              </a:r>
            </a:p>
            <a:p>
              <a:pPr algn="l" marL="324064" indent="-162032" lvl="1">
                <a:lnSpc>
                  <a:spcPts val="1876"/>
                </a:lnSpc>
                <a:buFont typeface="Arial"/>
                <a:buChar char="•"/>
              </a:pPr>
              <a:r>
                <a:rPr lang="en-US" sz="1500">
                  <a:solidFill>
                    <a:srgbClr val="000000"/>
                  </a:solidFill>
                  <a:latin typeface="Cousine"/>
                  <a:ea typeface="Cousine"/>
                  <a:cs typeface="Cousine"/>
                  <a:sym typeface="Cousine"/>
                </a:rPr>
                <a:t>Multilingual: i18next </a:t>
              </a:r>
            </a:p>
            <a:p>
              <a:pPr algn="l" marL="324064" indent="-162032" lvl="1">
                <a:lnSpc>
                  <a:spcPts val="1876"/>
                </a:lnSpc>
                <a:buFont typeface="Arial"/>
                <a:buChar char="•"/>
              </a:pPr>
              <a:r>
                <a:rPr lang="en-US" sz="1500">
                  <a:solidFill>
                    <a:srgbClr val="000000"/>
                  </a:solidFill>
                  <a:latin typeface="Cousine"/>
                  <a:ea typeface="Cousine"/>
                  <a:cs typeface="Cousine"/>
                  <a:sym typeface="Cousine"/>
                </a:rPr>
                <a:t>Build: Metr</a:t>
              </a:r>
              <a:r>
                <a:rPr lang="en-US" sz="1500">
                  <a:solidFill>
                    <a:srgbClr val="000000"/>
                  </a:solidFill>
                  <a:latin typeface="Cousine"/>
                  <a:ea typeface="Cousine"/>
                  <a:cs typeface="Cousine"/>
                  <a:sym typeface="Cousine"/>
                </a:rPr>
                <a:t>o Bundler, Babel 7.25.2</a:t>
              </a:r>
            </a:p>
            <a:p>
              <a:pPr algn="l" marL="324064" indent="-162032" lvl="1">
                <a:lnSpc>
                  <a:spcPts val="1876"/>
                </a:lnSpc>
                <a:buFont typeface="Arial"/>
                <a:buChar char="•"/>
              </a:pPr>
              <a:r>
                <a:rPr lang="en-US" sz="1500">
                  <a:solidFill>
                    <a:srgbClr val="000000"/>
                  </a:solidFill>
                  <a:latin typeface="Cousine"/>
                  <a:ea typeface="Cousine"/>
                  <a:cs typeface="Cousine"/>
                  <a:sym typeface="Cousine"/>
                </a:rPr>
                <a:t>Platform Support: Android via Gradle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1192208" y="2468725"/>
            <a:ext cx="6067092" cy="3466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5"/>
              </a:lnSpc>
              <a:spcBef>
                <a:spcPct val="0"/>
              </a:spcBef>
            </a:pPr>
            <a:r>
              <a:rPr lang="en-US" b="true" sz="1511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Multi-screen navigation with React Navigation</a:t>
            </a:r>
          </a:p>
          <a:p>
            <a:pPr algn="l">
              <a:lnSpc>
                <a:spcPts val="2115"/>
              </a:lnSpc>
              <a:spcBef>
                <a:spcPct val="0"/>
              </a:spcBef>
            </a:pPr>
          </a:p>
          <a:p>
            <a:pPr algn="l">
              <a:lnSpc>
                <a:spcPts val="2115"/>
              </a:lnSpc>
              <a:spcBef>
                <a:spcPct val="0"/>
              </a:spcBef>
            </a:pPr>
            <a:r>
              <a:rPr lang="en-US" b="true" sz="1511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Provides locations services and map integration</a:t>
            </a:r>
          </a:p>
          <a:p>
            <a:pPr algn="l">
              <a:lnSpc>
                <a:spcPts val="2115"/>
              </a:lnSpc>
              <a:spcBef>
                <a:spcPct val="0"/>
              </a:spcBef>
            </a:pPr>
          </a:p>
          <a:p>
            <a:pPr algn="l">
              <a:lnSpc>
                <a:spcPts val="2115"/>
              </a:lnSpc>
              <a:spcBef>
                <a:spcPct val="0"/>
              </a:spcBef>
            </a:pPr>
            <a:r>
              <a:rPr lang="en-US" b="true" sz="1511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UI/UX: Vector icons, gesture handling, safe area support, animations, Dropdown/picker components</a:t>
            </a:r>
          </a:p>
          <a:p>
            <a:pPr algn="l">
              <a:lnSpc>
                <a:spcPts val="2115"/>
              </a:lnSpc>
              <a:spcBef>
                <a:spcPct val="0"/>
              </a:spcBef>
            </a:pPr>
          </a:p>
          <a:p>
            <a:pPr algn="l">
              <a:lnSpc>
                <a:spcPts val="2115"/>
              </a:lnSpc>
              <a:spcBef>
                <a:spcPct val="0"/>
              </a:spcBef>
            </a:pPr>
            <a:r>
              <a:rPr lang="en-US" b="true" sz="1511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School list view with infinite scroll</a:t>
            </a:r>
          </a:p>
          <a:p>
            <a:pPr algn="l">
              <a:lnSpc>
                <a:spcPts val="2115"/>
              </a:lnSpc>
              <a:spcBef>
                <a:spcPct val="0"/>
              </a:spcBef>
            </a:pPr>
            <a:r>
              <a:rPr lang="en-US" b="true" sz="1511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School detail screen, search</a:t>
            </a:r>
          </a:p>
          <a:p>
            <a:pPr algn="l">
              <a:lnSpc>
                <a:spcPts val="2115"/>
              </a:lnSpc>
              <a:spcBef>
                <a:spcPct val="0"/>
              </a:spcBef>
            </a:pPr>
          </a:p>
          <a:p>
            <a:pPr algn="l">
              <a:lnSpc>
                <a:spcPts val="2115"/>
              </a:lnSpc>
              <a:spcBef>
                <a:spcPct val="0"/>
              </a:spcBef>
            </a:pPr>
            <a:r>
              <a:rPr lang="en-US" b="true" sz="1511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Advanced filter, Map view, Bookmark (favorite)</a:t>
            </a:r>
          </a:p>
          <a:p>
            <a:pPr algn="l">
              <a:lnSpc>
                <a:spcPts val="2115"/>
              </a:lnSpc>
              <a:spcBef>
                <a:spcPct val="0"/>
              </a:spcBef>
            </a:pPr>
            <a:r>
              <a:rPr lang="en-US" b="true" sz="1511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Recent view System, Multilingual support </a:t>
            </a:r>
          </a:p>
          <a:p>
            <a:pPr algn="l">
              <a:lnSpc>
                <a:spcPts val="2115"/>
              </a:lnSpc>
              <a:spcBef>
                <a:spcPct val="0"/>
              </a:spcBef>
            </a:pPr>
          </a:p>
        </p:txBody>
      </p:sp>
      <p:grpSp>
        <p:nvGrpSpPr>
          <p:cNvPr name="Group 52" id="52"/>
          <p:cNvGrpSpPr/>
          <p:nvPr/>
        </p:nvGrpSpPr>
        <p:grpSpPr>
          <a:xfrm rot="0">
            <a:off x="6725314" y="2140248"/>
            <a:ext cx="1395756" cy="876619"/>
            <a:chOff x="0" y="0"/>
            <a:chExt cx="367607" cy="23087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67607" cy="230879"/>
            </a:xfrm>
            <a:custGeom>
              <a:avLst/>
              <a:gdLst/>
              <a:ahLst/>
              <a:cxnLst/>
              <a:rect r="r" b="b" t="t" l="l"/>
              <a:pathLst>
                <a:path h="230879" w="367607">
                  <a:moveTo>
                    <a:pt x="0" y="0"/>
                  </a:moveTo>
                  <a:lnTo>
                    <a:pt x="367607" y="0"/>
                  </a:lnTo>
                  <a:lnTo>
                    <a:pt x="367607" y="230879"/>
                  </a:lnTo>
                  <a:lnTo>
                    <a:pt x="0" y="230879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367607" cy="2785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7200979" y="1573418"/>
            <a:ext cx="3423236" cy="597683"/>
          </a:xfrm>
          <a:custGeom>
            <a:avLst/>
            <a:gdLst/>
            <a:ahLst/>
            <a:cxnLst/>
            <a:rect r="r" b="b" t="t" l="l"/>
            <a:pathLst>
              <a:path h="597683" w="3423236">
                <a:moveTo>
                  <a:pt x="0" y="0"/>
                </a:moveTo>
                <a:lnTo>
                  <a:pt x="3423237" y="0"/>
                </a:lnTo>
                <a:lnTo>
                  <a:pt x="3423237" y="597684"/>
                </a:lnTo>
                <a:lnTo>
                  <a:pt x="0" y="5976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-205119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7200979" y="2171102"/>
            <a:ext cx="3423236" cy="845765"/>
            <a:chOff x="0" y="0"/>
            <a:chExt cx="901593" cy="22275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01593" cy="222753"/>
            </a:xfrm>
            <a:custGeom>
              <a:avLst/>
              <a:gdLst/>
              <a:ahLst/>
              <a:cxnLst/>
              <a:rect r="r" b="b" t="t" l="l"/>
              <a:pathLst>
                <a:path h="222753" w="901593">
                  <a:moveTo>
                    <a:pt x="0" y="0"/>
                  </a:moveTo>
                  <a:lnTo>
                    <a:pt x="901593" y="0"/>
                  </a:lnTo>
                  <a:lnTo>
                    <a:pt x="901593" y="222753"/>
                  </a:lnTo>
                  <a:lnTo>
                    <a:pt x="0" y="222753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901593" cy="270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7023159" y="1850732"/>
            <a:ext cx="3685297" cy="24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8"/>
              </a:lnSpc>
            </a:pPr>
            <a:r>
              <a:rPr lang="en-US" b="true" sz="2021" spc="-6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ACKNOWLEDGMENTS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356661" y="2191099"/>
            <a:ext cx="3161937" cy="786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5"/>
              </a:lnSpc>
            </a:pPr>
            <a:r>
              <a:rPr lang="en-US" sz="2556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Google Map API </a:t>
            </a:r>
          </a:p>
          <a:p>
            <a:pPr algn="l">
              <a:lnSpc>
                <a:spcPts val="3195"/>
              </a:lnSpc>
            </a:pPr>
            <a:r>
              <a:rPr lang="en-US" sz="2556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DATA.GOV.HK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4404144" y="9234801"/>
            <a:ext cx="12608623" cy="626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2021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Provide directions route to the selected school </a:t>
            </a:r>
          </a:p>
          <a:p>
            <a:pPr algn="l">
              <a:lnSpc>
                <a:spcPts val="2527"/>
              </a:lnSpc>
            </a:pPr>
            <a:r>
              <a:rPr lang="en-US" sz="2021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Add the target school to favorite (bookmark) for easy searching and offline usage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84087" y="1498437"/>
            <a:ext cx="6972914" cy="69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9"/>
              </a:lnSpc>
            </a:pPr>
            <a:r>
              <a:rPr lang="en-US" sz="4519" b="true">
                <a:solidFill>
                  <a:srgbClr val="0057CC"/>
                </a:solidFill>
                <a:latin typeface="Cousine Bold"/>
                <a:ea typeface="Cousine Bold"/>
                <a:cs typeface="Cousine Bold"/>
                <a:sym typeface="Cousine Bold"/>
              </a:rPr>
              <a:t>HK School Explorer </a:t>
            </a:r>
          </a:p>
        </p:txBody>
      </p:sp>
      <p:sp>
        <p:nvSpPr>
          <p:cNvPr name="AutoShape 63" id="63"/>
          <p:cNvSpPr/>
          <p:nvPr/>
        </p:nvSpPr>
        <p:spPr>
          <a:xfrm flipV="true">
            <a:off x="10583171" y="4552758"/>
            <a:ext cx="0" cy="4345118"/>
          </a:xfrm>
          <a:prstGeom prst="line">
            <a:avLst/>
          </a:prstGeom>
          <a:ln cap="flat" w="38100">
            <a:solidFill>
              <a:srgbClr val="0057CC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64" id="64"/>
          <p:cNvGrpSpPr/>
          <p:nvPr/>
        </p:nvGrpSpPr>
        <p:grpSpPr>
          <a:xfrm rot="0">
            <a:off x="7309135" y="3199378"/>
            <a:ext cx="2912267" cy="667120"/>
            <a:chOff x="0" y="0"/>
            <a:chExt cx="767017" cy="17570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67017" cy="175702"/>
            </a:xfrm>
            <a:custGeom>
              <a:avLst/>
              <a:gdLst/>
              <a:ahLst/>
              <a:cxnLst/>
              <a:rect r="r" b="b" t="t" l="l"/>
              <a:pathLst>
                <a:path h="175702" w="767017">
                  <a:moveTo>
                    <a:pt x="0" y="0"/>
                  </a:moveTo>
                  <a:lnTo>
                    <a:pt x="767017" y="0"/>
                  </a:lnTo>
                  <a:lnTo>
                    <a:pt x="767017" y="175702"/>
                  </a:lnTo>
                  <a:lnTo>
                    <a:pt x="0" y="175702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767017" cy="223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7" id="67"/>
          <p:cNvSpPr/>
          <p:nvPr/>
        </p:nvSpPr>
        <p:spPr>
          <a:xfrm flipH="false" flipV="false" rot="0">
            <a:off x="9901126" y="2775772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13696989" y="1665038"/>
            <a:ext cx="2912267" cy="667120"/>
            <a:chOff x="0" y="0"/>
            <a:chExt cx="767017" cy="17570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67017" cy="175702"/>
            </a:xfrm>
            <a:custGeom>
              <a:avLst/>
              <a:gdLst/>
              <a:ahLst/>
              <a:cxnLst/>
              <a:rect r="r" b="b" t="t" l="l"/>
              <a:pathLst>
                <a:path h="175702" w="767017">
                  <a:moveTo>
                    <a:pt x="0" y="0"/>
                  </a:moveTo>
                  <a:lnTo>
                    <a:pt x="767017" y="0"/>
                  </a:lnTo>
                  <a:lnTo>
                    <a:pt x="767017" y="175702"/>
                  </a:lnTo>
                  <a:lnTo>
                    <a:pt x="0" y="175702"/>
                  </a:lnTo>
                  <a:close/>
                </a:path>
              </a:pathLst>
            </a:custGeom>
            <a:solidFill>
              <a:srgbClr val="0057C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767017" cy="223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DAHGRojk_K4</dc:identifier>
  <dcterms:modified xsi:type="dcterms:W3CDTF">2011-08-01T06:04:30Z</dcterms:modified>
  <cp:revision>1</cp:revision>
  <dc:title>COMP3130SEF-Project- SXXXXXXX</dc:title>
</cp:coreProperties>
</file>